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8" r:id="rId4"/>
    <p:sldId id="259" r:id="rId5"/>
    <p:sldId id="264" r:id="rId6"/>
    <p:sldId id="262" r:id="rId7"/>
  </p:sldIdLst>
  <p:sldSz cx="12192000" cy="6858000"/>
  <p:notesSz cx="6858000" cy="9144000"/>
  <p:embeddedFontLst>
    <p:embeddedFont>
      <p:font typeface="Oswald" panose="00000500000000000000" pitchFamily="2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7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6VJ+WgdfHOz0DNN+cVLxLyiF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C5529E8-8A6C-68FF-2C22-CB35CCF9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750A2022-FE2F-4DD3-0C82-83B7BA327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C99CE500-519D-2EEB-F381-D6BE42CA3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B9C78D9D-20ED-FF42-9372-E567E41707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396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7272725" y="1016726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603013" y="2415037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-90452" y="252181"/>
            <a:ext cx="10589895" cy="83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Arial "/>
                <a:ea typeface="Garamond"/>
                <a:cs typeface="Times New Roman" panose="02020603050405020304" pitchFamily="18" charset="0"/>
                <a:sym typeface="Garamond"/>
              </a:rPr>
              <a:t>SMART INDIA HACKATHON 2026</a:t>
            </a:r>
            <a:endParaRPr sz="4000" b="1" dirty="0">
              <a:solidFill>
                <a:schemeClr val="dk2"/>
              </a:solidFill>
              <a:latin typeface="Arial 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07043" y="1827746"/>
            <a:ext cx="7363116" cy="2888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  <a:buSzPts val="2400"/>
            </a:pPr>
            <a:r>
              <a:rPr lang="en-IN" sz="2000" b="1" dirty="0">
                <a:latin typeface="Arial "/>
              </a:rPr>
              <a:t>Problem Statement ID: </a:t>
            </a:r>
            <a:r>
              <a:rPr lang="en-IN" sz="2000" dirty="0">
                <a:latin typeface="Arial "/>
              </a:rPr>
              <a:t>25076</a:t>
            </a:r>
          </a:p>
          <a:p>
            <a:pPr lvl="0">
              <a:lnSpc>
                <a:spcPct val="150000"/>
              </a:lnSpc>
              <a:buSzPts val="2400"/>
            </a:pPr>
            <a:r>
              <a:rPr lang="en-IN" sz="2000" b="1" dirty="0">
                <a:latin typeface="Arial "/>
              </a:rPr>
              <a:t>Theme: </a:t>
            </a:r>
            <a:r>
              <a:rPr lang="en-IN" sz="2000" dirty="0">
                <a:latin typeface="Arial "/>
              </a:rPr>
              <a:t>Agriculture, FoodTech &amp; Rural Development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rial "/>
              </a:rPr>
              <a:t>Problem Statement Title : </a:t>
            </a:r>
            <a:r>
              <a:rPr lang="en-IN" sz="2000" dirty="0">
                <a:latin typeface="Arial "/>
              </a:rPr>
              <a:t>AI-Based Farmer Query Support and Advisory System</a:t>
            </a:r>
            <a:br>
              <a:rPr lang="en-IN" sz="2000" dirty="0">
                <a:latin typeface="Arial "/>
              </a:rPr>
            </a:br>
            <a:r>
              <a:rPr lang="en-IN" sz="2000" b="1" dirty="0">
                <a:latin typeface="Arial "/>
              </a:rPr>
              <a:t>PS Category:</a:t>
            </a:r>
            <a:r>
              <a:rPr lang="en-IN" sz="2000" dirty="0">
                <a:latin typeface="Arial "/>
              </a:rPr>
              <a:t> Software</a:t>
            </a:r>
            <a:br>
              <a:rPr lang="en-IN" sz="2000" dirty="0">
                <a:latin typeface="Arial "/>
              </a:rPr>
            </a:br>
            <a:r>
              <a:rPr lang="en-IN" sz="2000" b="1" dirty="0">
                <a:latin typeface="Arial "/>
              </a:rPr>
              <a:t>Team Name:</a:t>
            </a:r>
            <a:r>
              <a:rPr lang="en-IN" sz="2000" dirty="0">
                <a:latin typeface="Arial "/>
              </a:rPr>
              <a:t> </a:t>
            </a:r>
            <a:r>
              <a:rPr lang="en-IN" sz="2000" dirty="0" err="1">
                <a:latin typeface="Arial "/>
              </a:rPr>
              <a:t>Vivasayi</a:t>
            </a:r>
            <a:r>
              <a:rPr lang="en-IN" sz="2000" dirty="0">
                <a:latin typeface="Arial "/>
              </a:rPr>
              <a:t> ai</a:t>
            </a:r>
            <a:endParaRPr sz="2000" dirty="0">
              <a:latin typeface="Arial "/>
            </a:endParaRPr>
          </a:p>
        </p:txBody>
      </p:sp>
      <p:sp>
        <p:nvSpPr>
          <p:cNvPr id="3" name="Google Shape;91;p1">
            <a:extLst>
              <a:ext uri="{FF2B5EF4-FFF2-40B4-BE49-F238E27FC236}">
                <a16:creationId xmlns:a16="http://schemas.microsoft.com/office/drawing/2014/main" id="{7FE9C52A-70A0-2771-8631-A12AB33D0DDC}"/>
              </a:ext>
            </a:extLst>
          </p:cNvPr>
          <p:cNvSpPr txBox="1"/>
          <p:nvPr/>
        </p:nvSpPr>
        <p:spPr>
          <a:xfrm>
            <a:off x="313345" y="5532181"/>
            <a:ext cx="8634010" cy="6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IN" sz="1800" b="1" dirty="0">
                <a:latin typeface="Arial "/>
              </a:rPr>
              <a:t>Ai-powered multilingual farmer assistance for crop health, farming decisions, irrigation, fertilizers, weather and market information.</a:t>
            </a:r>
            <a:endParaRPr lang="en-IN" sz="1800" dirty="0">
              <a:latin typeface="Arial 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D90519-531B-CB4E-8EB8-35EC2C05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287" y="-126972"/>
            <a:ext cx="2312879" cy="1541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2023105" y="395454"/>
            <a:ext cx="8454189" cy="52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600" b="1" dirty="0">
                <a:latin typeface="+mj-lt"/>
              </a:rPr>
              <a:t>PROPOSED SOLUTION</a:t>
            </a:r>
            <a:endParaRPr lang="en-IN" b="1" dirty="0">
              <a:latin typeface="+mj-lt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2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 descr="Your startup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9084" y="198416"/>
            <a:ext cx="1581785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1239B-F7B8-4F69-7E46-B3EB8FB14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871" y="0"/>
            <a:ext cx="2312879" cy="1541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88CD9-6745-0AC6-F8B3-8E9DFE682E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10" y="395454"/>
            <a:ext cx="1300017" cy="352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2983A-15F3-E245-112C-9AD92DD5E415}"/>
              </a:ext>
            </a:extLst>
          </p:cNvPr>
          <p:cNvSpPr txBox="1"/>
          <p:nvPr/>
        </p:nvSpPr>
        <p:spPr>
          <a:xfrm>
            <a:off x="352110" y="1649066"/>
            <a:ext cx="1143883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dirty="0" err="1">
                <a:latin typeface="+mj-lt"/>
              </a:rPr>
              <a:t>Vivasayi</a:t>
            </a:r>
            <a:r>
              <a:rPr lang="en-IN" sz="1800" b="1" dirty="0">
                <a:latin typeface="+mj-lt"/>
              </a:rPr>
              <a:t> AI</a:t>
            </a:r>
            <a:r>
              <a:rPr lang="en-IN" sz="1800" dirty="0">
                <a:latin typeface="+mj-lt"/>
              </a:rPr>
              <a:t> is a smart web application that provides farmers with AI-based agricultural support in one platform</a:t>
            </a:r>
            <a:r>
              <a:rPr lang="en-IN" dirty="0">
                <a:latin typeface="+mj-lt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C5202-3372-85A4-F1DC-0E1794E4CF9F}"/>
              </a:ext>
            </a:extLst>
          </p:cNvPr>
          <p:cNvSpPr txBox="1"/>
          <p:nvPr/>
        </p:nvSpPr>
        <p:spPr>
          <a:xfrm>
            <a:off x="625642" y="2662876"/>
            <a:ext cx="610402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</a:rPr>
              <a:t>Addressing the Problem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+mj-lt"/>
              </a:rPr>
              <a:t>Detects crop diseases from images.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+mj-lt"/>
              </a:rPr>
              <a:t>Recommends suitable crops and fertilizers.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+mj-lt"/>
              </a:rPr>
              <a:t>Provides weather and irrigation advice.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+mj-lt"/>
              </a:rPr>
              <a:t>Provides market price information.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+mj-lt"/>
              </a:rPr>
              <a:t>Supports </a:t>
            </a:r>
            <a:r>
              <a:rPr lang="en-IN" b="1" dirty="0">
                <a:latin typeface="+mj-lt"/>
              </a:rPr>
              <a:t>Tamil and English voice queries</a:t>
            </a:r>
            <a:r>
              <a:rPr lang="en-IN" dirty="0">
                <a:latin typeface="+mj-lt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34C83-844D-D8FF-7A90-591DD6AF53D7}"/>
              </a:ext>
            </a:extLst>
          </p:cNvPr>
          <p:cNvSpPr txBox="1"/>
          <p:nvPr/>
        </p:nvSpPr>
        <p:spPr>
          <a:xfrm>
            <a:off x="6087979" y="2738303"/>
            <a:ext cx="6104020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 &amp; Uniqueness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All-in-one AI farming assistant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Personalized recommendations based on farmer and crop data.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Voice-based support for easy rural access.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Combines AI + weather + soil + crop + market information to provide actionable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12" name="Google Shape;112;p3"/>
          <p:cNvSpPr txBox="1"/>
          <p:nvPr/>
        </p:nvSpPr>
        <p:spPr>
          <a:xfrm>
            <a:off x="1979930" y="1286510"/>
            <a:ext cx="9385300" cy="401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AI/ML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Python (scikit-learn, TensorFlow/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  <a:p>
            <a:pPr marL="342900" marR="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MySQL / MongoDB.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React / Angular.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Flask / Node.js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Counseling Chatbot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NLP (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Dialogflow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OpenAI API).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Power BI / Tableau.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5" name="Google Shape;115;p3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 descr="Your startup LOGO"/>
          <p:cNvSpPr/>
          <p:nvPr/>
        </p:nvSpPr>
        <p:spPr>
          <a:xfrm>
            <a:off x="0" y="69215"/>
            <a:ext cx="1581150" cy="98996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80F2C-067A-3E12-CB94-6202845729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BA6A4E-9F28-B8E0-8067-54363D3F2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865" y="1"/>
            <a:ext cx="1722775" cy="989966"/>
          </a:xfrm>
          <a:prstGeom prst="rect">
            <a:avLst/>
          </a:prstGeom>
        </p:spPr>
      </p:pic>
      <p:sp>
        <p:nvSpPr>
          <p:cNvPr id="8" name="Google Shape;139;p5" descr="Your startup LOGO">
            <a:extLst>
              <a:ext uri="{FF2B5EF4-FFF2-40B4-BE49-F238E27FC236}">
                <a16:creationId xmlns:a16="http://schemas.microsoft.com/office/drawing/2014/main" id="{A111DFE0-B509-1399-8D5F-7532848B32EB}"/>
              </a:ext>
            </a:extLst>
          </p:cNvPr>
          <p:cNvSpPr/>
          <p:nvPr/>
        </p:nvSpPr>
        <p:spPr>
          <a:xfrm>
            <a:off x="68014" y="69215"/>
            <a:ext cx="1581785" cy="628876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BEDDE1-9C2A-7683-D9D9-62B57493AF0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262" y="232833"/>
            <a:ext cx="1161287" cy="301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1504334" y="349319"/>
            <a:ext cx="9016181" cy="84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+mj-lt"/>
                <a:ea typeface="Times New Roman"/>
                <a:cs typeface="Times New Roman" panose="02020603050405020304" pitchFamily="18" charset="0"/>
                <a:sym typeface="Times New Roman"/>
              </a:rPr>
              <a:t>FEASIBILITY</a:t>
            </a:r>
            <a:r>
              <a:rPr lang="en-US" sz="3600" b="1" dirty="0">
                <a:latin typeface="+mj-lt"/>
                <a:ea typeface="Times New Roman"/>
                <a:cs typeface="Times New Roman"/>
                <a:sym typeface="Times New Roman"/>
              </a:rPr>
              <a:t> AND VIABILITY</a:t>
            </a:r>
            <a:endParaRPr dirty="0">
              <a:latin typeface="+mj-lt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90290" y="1589544"/>
            <a:ext cx="10454005" cy="350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Technically Feasible</a:t>
            </a:r>
            <a:r>
              <a:rPr lang="en-IN" sz="1800" dirty="0">
                <a:latin typeface="+mj-lt"/>
              </a:rPr>
              <a:t> – Uses existing AI/ML, web and API technologies. 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Cost Effective</a:t>
            </a:r>
            <a:r>
              <a:rPr lang="en-IN" sz="1800" dirty="0">
                <a:latin typeface="+mj-lt"/>
              </a:rPr>
              <a:t> – Can be developed using open-source tools and datasets. 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Easy to Use</a:t>
            </a:r>
            <a:r>
              <a:rPr lang="en-IN" sz="1800" dirty="0">
                <a:latin typeface="+mj-lt"/>
              </a:rPr>
              <a:t> – Simple web interface with Tamil/English voice support. 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Scalable</a:t>
            </a:r>
            <a:r>
              <a:rPr lang="en-IN" sz="1800" dirty="0">
                <a:latin typeface="+mj-lt"/>
              </a:rPr>
              <a:t> – Can support more crops, farmers and regions. 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Practical</a:t>
            </a:r>
            <a:r>
              <a:rPr lang="en-IN" sz="1800" dirty="0">
                <a:latin typeface="+mj-lt"/>
              </a:rPr>
              <a:t> – Provides real-time and personalized farming advice. </a:t>
            </a:r>
          </a:p>
          <a:p>
            <a:pPr marL="285750" lvl="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+mj-lt"/>
              </a:rPr>
              <a:t>Sustainable</a:t>
            </a:r>
            <a:r>
              <a:rPr lang="en-IN" sz="1800" dirty="0">
                <a:latin typeface="+mj-lt"/>
              </a:rPr>
              <a:t> – Helps reduce crop loss, water wastage and unnecessary fertilizer use.</a:t>
            </a: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+mj-lt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 descr="Your startup LOGO"/>
          <p:cNvSpPr/>
          <p:nvPr/>
        </p:nvSpPr>
        <p:spPr>
          <a:xfrm>
            <a:off x="142894" y="261927"/>
            <a:ext cx="1695737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437F1-3397-D8DB-63F2-CC00189DD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761" y="0"/>
            <a:ext cx="2312879" cy="1541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01BF93-18A0-03B1-12E3-91A46B413B6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0753" y="473313"/>
            <a:ext cx="1300017" cy="384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BC7EBC-2960-974A-54BA-CA0C910E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>
            <a:extLst>
              <a:ext uri="{FF2B5EF4-FFF2-40B4-BE49-F238E27FC236}">
                <a16:creationId xmlns:a16="http://schemas.microsoft.com/office/drawing/2014/main" id="{D9E24172-F8B2-2FCD-1B73-AB69EABEE62E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>
            <a:extLst>
              <a:ext uri="{FF2B5EF4-FFF2-40B4-BE49-F238E27FC236}">
                <a16:creationId xmlns:a16="http://schemas.microsoft.com/office/drawing/2014/main" id="{0E00FD70-EA84-3652-9E49-2C8DE7375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5547" y="364593"/>
            <a:ext cx="5878118" cy="70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3600" b="1" dirty="0">
                <a:latin typeface="+mj-lt"/>
              </a:rPr>
              <a:t>IMPACT AND BENEFITS</a:t>
            </a:r>
            <a:endParaRPr b="1" dirty="0">
              <a:latin typeface="+mj-lt"/>
            </a:endParaRPr>
          </a:p>
        </p:txBody>
      </p:sp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117203A5-0B4B-835F-D965-AFFEEE0D35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6">
            <a:extLst>
              <a:ext uri="{FF2B5EF4-FFF2-40B4-BE49-F238E27FC236}">
                <a16:creationId xmlns:a16="http://schemas.microsoft.com/office/drawing/2014/main" id="{77E63253-1D0E-E99C-E5D6-5610E71B1E1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E5466-2541-179C-7024-038898187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770" y="-125799"/>
            <a:ext cx="2312879" cy="1541919"/>
          </a:xfrm>
          <a:prstGeom prst="rect">
            <a:avLst/>
          </a:prstGeom>
        </p:spPr>
      </p:pic>
      <p:sp>
        <p:nvSpPr>
          <p:cNvPr id="5" name="Google Shape;139;p5" descr="Your startup LOGO">
            <a:extLst>
              <a:ext uri="{FF2B5EF4-FFF2-40B4-BE49-F238E27FC236}">
                <a16:creationId xmlns:a16="http://schemas.microsoft.com/office/drawing/2014/main" id="{094F05AF-3CBB-C53B-8160-B9AF58557D75}"/>
              </a:ext>
            </a:extLst>
          </p:cNvPr>
          <p:cNvSpPr/>
          <p:nvPr/>
        </p:nvSpPr>
        <p:spPr>
          <a:xfrm>
            <a:off x="176528" y="156946"/>
            <a:ext cx="1581785" cy="85894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1AECA4-4D20-5298-9A84-CEC15825836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17411" y="394264"/>
            <a:ext cx="1300017" cy="384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4B08F9-F03A-93B5-F49C-1BFF48845E43}"/>
              </a:ext>
            </a:extLst>
          </p:cNvPr>
          <p:cNvSpPr txBox="1"/>
          <p:nvPr/>
        </p:nvSpPr>
        <p:spPr>
          <a:xfrm>
            <a:off x="359231" y="1164622"/>
            <a:ext cx="11473535" cy="489704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Increased Crop Productivity</a:t>
            </a:r>
            <a:r>
              <a:rPr lang="en-IN" sz="1500" dirty="0">
                <a:latin typeface="+mj-lt"/>
              </a:rPr>
              <a:t> – Provides timely and personalized recommendations to support better farming decisions and improve yield.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Reduced Crop Losses</a:t>
            </a:r>
            <a:r>
              <a:rPr lang="en-IN" sz="1500" dirty="0">
                <a:latin typeface="+mj-lt"/>
              </a:rPr>
              <a:t> – Early crop disease detection helps farmers identify problems and take preventive action.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Efficient Water Usage</a:t>
            </a:r>
            <a:r>
              <a:rPr lang="en-IN" sz="1500" dirty="0">
                <a:latin typeface="+mj-lt"/>
              </a:rPr>
              <a:t> – Smart irrigation advice helps reduce unnecessary water consumption and supports sustainable farming.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Better Fertilizer Management</a:t>
            </a:r>
            <a:r>
              <a:rPr lang="en-IN" sz="1500" dirty="0">
                <a:latin typeface="+mj-lt"/>
              </a:rPr>
              <a:t> – Provides crop- and soil-based fertilizer guidance, helping avoid excessive or inappropriate fertilizer use.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Improved Farmer Decision-Making</a:t>
            </a:r>
            <a:r>
              <a:rPr lang="en-IN" sz="1500" dirty="0">
                <a:latin typeface="+mj-lt"/>
              </a:rPr>
              <a:t> – Combines crop, soil, weather, and market information to provide actionable recommendations.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Easy Access to Agricultural Support</a:t>
            </a:r>
            <a:r>
              <a:rPr lang="en-IN" sz="1500" dirty="0">
                <a:latin typeface="+mj-lt"/>
              </a:rPr>
              <a:t> – Farmers can access multiple services through a single web application instead of using separate platforms.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Regional Language Accessibility</a:t>
            </a:r>
            <a:r>
              <a:rPr lang="en-IN" sz="1500" dirty="0">
                <a:latin typeface="+mj-lt"/>
              </a:rPr>
              <a:t> – Tamil and English voice support makes AI-based agricultural assistance easier for rural farmers to use.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+mj-lt"/>
              </a:rPr>
              <a:t>Economic Benefits</a:t>
            </a:r>
            <a:r>
              <a:rPr lang="en-IN" sz="1500" dirty="0">
                <a:latin typeface="+mj-lt"/>
              </a:rPr>
              <a:t> – Market price information can help farmers make better decisions about when and where to sell their produce.</a:t>
            </a:r>
          </a:p>
        </p:txBody>
      </p:sp>
    </p:spTree>
    <p:extLst>
      <p:ext uri="{BB962C8B-B14F-4D97-AF65-F5344CB8AC3E}">
        <p14:creationId xmlns:p14="http://schemas.microsoft.com/office/powerpoint/2010/main" val="80407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1534911" y="522657"/>
            <a:ext cx="8410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600" b="1" dirty="0"/>
              <a:t>RESEARCH AND REFERENCES</a:t>
            </a:r>
            <a:endParaRPr b="1" dirty="0"/>
          </a:p>
        </p:txBody>
      </p:sp>
      <p:sp>
        <p:nvSpPr>
          <p:cNvPr id="185" name="Google Shape;185;p7"/>
          <p:cNvSpPr txBox="1"/>
          <p:nvPr/>
        </p:nvSpPr>
        <p:spPr>
          <a:xfrm>
            <a:off x="986790" y="2066290"/>
            <a:ext cx="10594975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7E83A-DAEB-FDBE-8459-ABF5F798ACA8}"/>
              </a:ext>
            </a:extLst>
          </p:cNvPr>
          <p:cNvSpPr txBox="1"/>
          <p:nvPr/>
        </p:nvSpPr>
        <p:spPr>
          <a:xfrm>
            <a:off x="884903" y="1641987"/>
            <a:ext cx="9488129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ICAR (Indian Council of Agricultural Research)</a:t>
            </a:r>
            <a:r>
              <a:rPr lang="en-IN" sz="1600" dirty="0">
                <a:latin typeface="+mj-lt"/>
              </a:rPr>
              <a:t> – Agricultural research, crop production, crop protection, and farmer advisory resources.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India Meteorological Department (IMD)</a:t>
            </a:r>
            <a:r>
              <a:rPr lang="en-IN" sz="1600" dirty="0">
                <a:latin typeface="+mj-lt"/>
              </a:rPr>
              <a:t> – Weather and rainfall data used for weather-based agricultural advisories.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Kaggle Agricultural Datasets</a:t>
            </a:r>
            <a:r>
              <a:rPr lang="en-IN" sz="1600" dirty="0">
                <a:latin typeface="+mj-lt"/>
              </a:rPr>
              <a:t> – Crop recommendation, soil parameters, crop disease, and agricultural datasets for AI/ML model development.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Plant Village Dataset</a:t>
            </a:r>
            <a:r>
              <a:rPr lang="en-IN" sz="1600" dirty="0">
                <a:latin typeface="+mj-lt"/>
              </a:rPr>
              <a:t> – Open dataset containing crop leaf images used for plant disease detection and classification.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Government of India – </a:t>
            </a:r>
            <a:r>
              <a:rPr lang="en-IN" sz="1600" b="1" dirty="0" err="1">
                <a:latin typeface="+mj-lt"/>
              </a:rPr>
              <a:t>AgriStack</a:t>
            </a:r>
            <a:r>
              <a:rPr lang="en-IN" sz="1600" b="1" dirty="0">
                <a:latin typeface="+mj-lt"/>
              </a:rPr>
              <a:t> / Digital Agriculture</a:t>
            </a:r>
            <a:r>
              <a:rPr lang="en-IN" sz="1600" dirty="0">
                <a:latin typeface="+mj-lt"/>
              </a:rPr>
              <a:t> – References for digital agriculture and technology-enabled farmer services.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 err="1">
                <a:latin typeface="+mj-lt"/>
              </a:rPr>
              <a:t>eNAM</a:t>
            </a:r>
            <a:r>
              <a:rPr lang="en-IN" sz="1600" b="1" dirty="0">
                <a:latin typeface="+mj-lt"/>
              </a:rPr>
              <a:t> (National Agriculture Market)</a:t>
            </a:r>
            <a:r>
              <a:rPr lang="en-IN" sz="1600" dirty="0">
                <a:latin typeface="+mj-lt"/>
              </a:rPr>
              <a:t> – Market and agricultural commodity price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C2814-1CE9-8BE3-C384-9875CAA0A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871" y="0"/>
            <a:ext cx="2312879" cy="1541919"/>
          </a:xfrm>
          <a:prstGeom prst="rect">
            <a:avLst/>
          </a:prstGeom>
        </p:spPr>
      </p:pic>
      <p:sp>
        <p:nvSpPr>
          <p:cNvPr id="7" name="Google Shape;139;p5" descr="Your startup LOGO">
            <a:extLst>
              <a:ext uri="{FF2B5EF4-FFF2-40B4-BE49-F238E27FC236}">
                <a16:creationId xmlns:a16="http://schemas.microsoft.com/office/drawing/2014/main" id="{F9949C96-59E2-B24F-E5B6-672A20C03C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014" y="190642"/>
            <a:ext cx="1581785" cy="85894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1FF90F-135B-EEE5-290B-B7B6375D97C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4" y="444077"/>
            <a:ext cx="1300017" cy="384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592</Words>
  <Application>Microsoft Office PowerPoint</Application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Times New Roman</vt:lpstr>
      <vt:lpstr>Oswald</vt:lpstr>
      <vt:lpstr>Wingdings</vt:lpstr>
      <vt:lpstr>Calibri</vt:lpstr>
      <vt:lpstr>Arial 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reenaafrancis@gmail.com</cp:lastModifiedBy>
  <cp:revision>2</cp:revision>
  <dcterms:created xsi:type="dcterms:W3CDTF">2013-12-12T18:46:00Z</dcterms:created>
  <dcterms:modified xsi:type="dcterms:W3CDTF">2026-08-26T23:36:14Z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958398F16DFE4C609668156FF93F731C_13</vt:lpwstr>
  </property>
  <property fmtid="{D5CDD505-2E9C-101B-9397-08002B2CF9AE}" pid="3" name="KSOProductBuildVer">
    <vt:lpwstr>1033-12.2.0.22549</vt:lpwstr>
  </property>
</Properties>
</file>